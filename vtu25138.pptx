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70" r:id="rId14"/>
    <p:sldId id="265" r:id="rId15"/>
  </p:sldIdLst>
  <p:sldSz cx="18288000" cy="10287000"/>
  <p:notesSz cx="6858000" cy="9144000"/>
  <p:embeddedFontLst>
    <p:embeddedFont>
      <p:font typeface="Bookman Old Style" panose="02050604050505020204" pitchFamily="18" charset="0"/>
      <p:regular r:id="rId16"/>
      <p:bold r:id="rId17"/>
      <p:italic r:id="rId18"/>
      <p:boldItalic r:id="rId19"/>
    </p:embeddedFont>
    <p:embeddedFont>
      <p:font typeface="Cambria" panose="02040503050406030204" pitchFamily="18" charset="0"/>
      <p:regular r:id="rId20"/>
      <p:bold r:id="rId21"/>
      <p:italic r:id="rId22"/>
      <p:boldItalic r:id="rId23"/>
    </p:embeddedFont>
    <p:embeddedFont>
      <p:font typeface="Gotham" panose="020B0604020202020204" charset="0"/>
      <p:regular r:id="rId24"/>
    </p:embeddedFont>
    <p:embeddedFont>
      <p:font typeface="Gotham Bold Italics" panose="020B0604020202020204" charset="0"/>
      <p:regular r:id="rId25"/>
      <p:boldItalic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1" d="100"/>
          <a:sy n="51" d="100"/>
        </p:scale>
        <p:origin x="29" y="-2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8.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4.fntdata"/><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erella Kathyayini" userId="0c6958ea69a51b91" providerId="LiveId" clId="{D86BA0B4-6A4F-4F4F-9422-5526A8226944}"/>
    <pc:docChg chg="custSel modSld">
      <pc:chgData name="Nerella Kathyayini" userId="0c6958ea69a51b91" providerId="LiveId" clId="{D86BA0B4-6A4F-4F4F-9422-5526A8226944}" dt="2026-04-20T04:03:23.816" v="66" actId="14100"/>
      <pc:docMkLst>
        <pc:docMk/>
      </pc:docMkLst>
      <pc:sldChg chg="modSp mod">
        <pc:chgData name="Nerella Kathyayini" userId="0c6958ea69a51b91" providerId="LiveId" clId="{D86BA0B4-6A4F-4F4F-9422-5526A8226944}" dt="2026-04-20T04:00:47.300" v="50" actId="20577"/>
        <pc:sldMkLst>
          <pc:docMk/>
          <pc:sldMk cId="0" sldId="256"/>
        </pc:sldMkLst>
        <pc:spChg chg="mod">
          <ac:chgData name="Nerella Kathyayini" userId="0c6958ea69a51b91" providerId="LiveId" clId="{D86BA0B4-6A4F-4F4F-9422-5526A8226944}" dt="2026-04-20T04:00:38.827" v="46" actId="20577"/>
          <ac:spMkLst>
            <pc:docMk/>
            <pc:sldMk cId="0" sldId="256"/>
            <ac:spMk id="14" creationId="{EA8EEF4A-EB43-B7D9-87FC-7C7D752BCA78}"/>
          </ac:spMkLst>
        </pc:spChg>
        <pc:spChg chg="mod">
          <ac:chgData name="Nerella Kathyayini" userId="0c6958ea69a51b91" providerId="LiveId" clId="{D86BA0B4-6A4F-4F4F-9422-5526A8226944}" dt="2026-04-20T04:00:47.300" v="50" actId="20577"/>
          <ac:spMkLst>
            <pc:docMk/>
            <pc:sldMk cId="0" sldId="256"/>
            <ac:spMk id="27" creationId="{AC6C53BF-3850-6683-E07F-D595EC8B02B2}"/>
          </ac:spMkLst>
        </pc:spChg>
      </pc:sldChg>
      <pc:sldChg chg="addSp delSp modSp mod">
        <pc:chgData name="Nerella Kathyayini" userId="0c6958ea69a51b91" providerId="LiveId" clId="{D86BA0B4-6A4F-4F4F-9422-5526A8226944}" dt="2026-04-20T04:01:46.199" v="53"/>
        <pc:sldMkLst>
          <pc:docMk/>
          <pc:sldMk cId="1998101144" sldId="266"/>
        </pc:sldMkLst>
        <pc:picChg chg="del">
          <ac:chgData name="Nerella Kathyayini" userId="0c6958ea69a51b91" providerId="LiveId" clId="{D86BA0B4-6A4F-4F4F-9422-5526A8226944}" dt="2026-04-20T04:01:24.705" v="51" actId="478"/>
          <ac:picMkLst>
            <pc:docMk/>
            <pc:sldMk cId="1998101144" sldId="266"/>
            <ac:picMk id="3" creationId="{F4168C57-8DB6-AE9C-E550-177E400B5436}"/>
          </ac:picMkLst>
        </pc:picChg>
        <pc:picChg chg="add mod">
          <ac:chgData name="Nerella Kathyayini" userId="0c6958ea69a51b91" providerId="LiveId" clId="{D86BA0B4-6A4F-4F4F-9422-5526A8226944}" dt="2026-04-20T04:01:46.199" v="53"/>
          <ac:picMkLst>
            <pc:docMk/>
            <pc:sldMk cId="1998101144" sldId="266"/>
            <ac:picMk id="4" creationId="{95E43377-947A-FD48-08E9-0C0C3D34C710}"/>
          </ac:picMkLst>
        </pc:picChg>
      </pc:sldChg>
      <pc:sldChg chg="addSp delSp modSp mod">
        <pc:chgData name="Nerella Kathyayini" userId="0c6958ea69a51b91" providerId="LiveId" clId="{D86BA0B4-6A4F-4F4F-9422-5526A8226944}" dt="2026-04-20T04:03:23.816" v="66" actId="14100"/>
        <pc:sldMkLst>
          <pc:docMk/>
          <pc:sldMk cId="47544820" sldId="267"/>
        </pc:sldMkLst>
        <pc:picChg chg="add mod">
          <ac:chgData name="Nerella Kathyayini" userId="0c6958ea69a51b91" providerId="LiveId" clId="{D86BA0B4-6A4F-4F4F-9422-5526A8226944}" dt="2026-04-20T04:03:23.816" v="66" actId="14100"/>
          <ac:picMkLst>
            <pc:docMk/>
            <pc:sldMk cId="47544820" sldId="267"/>
            <ac:picMk id="3" creationId="{3237676E-0F2F-C0C9-A3C4-C78ECFC87DD1}"/>
          </ac:picMkLst>
        </pc:picChg>
        <pc:picChg chg="del">
          <ac:chgData name="Nerella Kathyayini" userId="0c6958ea69a51b91" providerId="LiveId" clId="{D86BA0B4-6A4F-4F4F-9422-5526A8226944}" dt="2026-04-20T04:03:06.839" v="62" actId="478"/>
          <ac:picMkLst>
            <pc:docMk/>
            <pc:sldMk cId="47544820" sldId="267"/>
            <ac:picMk id="4" creationId="{760DDE65-B5B5-39BB-54DD-167C2DE08F4D}"/>
          </ac:picMkLst>
        </pc:picChg>
      </pc:sldChg>
      <pc:sldChg chg="addSp delSp modSp mod">
        <pc:chgData name="Nerella Kathyayini" userId="0c6958ea69a51b91" providerId="LiveId" clId="{D86BA0B4-6A4F-4F4F-9422-5526A8226944}" dt="2026-04-20T04:03:01.715" v="61" actId="1076"/>
        <pc:sldMkLst>
          <pc:docMk/>
          <pc:sldMk cId="3981187392" sldId="269"/>
        </pc:sldMkLst>
        <pc:picChg chg="add mod">
          <ac:chgData name="Nerella Kathyayini" userId="0c6958ea69a51b91" providerId="LiveId" clId="{D86BA0B4-6A4F-4F4F-9422-5526A8226944}" dt="2026-04-20T04:02:59.799" v="60" actId="1076"/>
          <ac:picMkLst>
            <pc:docMk/>
            <pc:sldMk cId="3981187392" sldId="269"/>
            <ac:picMk id="3" creationId="{394ED737-8789-0CCB-4C26-86787A3DC265}"/>
          </ac:picMkLst>
        </pc:picChg>
        <pc:picChg chg="del">
          <ac:chgData name="Nerella Kathyayini" userId="0c6958ea69a51b91" providerId="LiveId" clId="{D86BA0B4-6A4F-4F4F-9422-5526A8226944}" dt="2026-04-20T04:02:10.217" v="54" actId="478"/>
          <ac:picMkLst>
            <pc:docMk/>
            <pc:sldMk cId="3981187392" sldId="269"/>
            <ac:picMk id="4" creationId="{67C962A4-7678-3420-2411-FC72DB8F3F1B}"/>
          </ac:picMkLst>
        </pc:picChg>
        <pc:picChg chg="add mod">
          <ac:chgData name="Nerella Kathyayini" userId="0c6958ea69a51b91" providerId="LiveId" clId="{D86BA0B4-6A4F-4F4F-9422-5526A8226944}" dt="2026-04-20T04:03:01.715" v="61" actId="1076"/>
          <ac:picMkLst>
            <pc:docMk/>
            <pc:sldMk cId="3981187392" sldId="269"/>
            <ac:picMk id="6" creationId="{2F6BC54E-9513-738D-7825-45C5B12AA5AD}"/>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dirty="0"/>
            </a:p>
          </p:txBody>
        </p:sp>
      </p:grpSp>
      <p:grpSp>
        <p:nvGrpSpPr>
          <p:cNvPr id="19" name="Group 19"/>
          <p:cNvGrpSpPr/>
          <p:nvPr/>
        </p:nvGrpSpPr>
        <p:grpSpPr>
          <a:xfrm>
            <a:off x="-11958259" y="-876300"/>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dirty="0"/>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200329"/>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2</a:t>
            </a:r>
          </a:p>
          <a:p>
            <a:pPr algn="ctr"/>
            <a:r>
              <a:rPr lang="en-IN" sz="3600" b="1" dirty="0">
                <a:solidFill>
                  <a:srgbClr val="C00000"/>
                </a:solidFill>
                <a:latin typeface="Arial" panose="020B0604020202020204" pitchFamily="34" charset="0"/>
                <a:cs typeface="Arial" panose="020B0604020202020204" pitchFamily="34" charset="0"/>
              </a:rPr>
              <a:t>Date: 20-04-2026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457721" y="5100455"/>
            <a:ext cx="15784162" cy="2062103"/>
          </a:xfrm>
          <a:prstGeom prst="rect">
            <a:avLst/>
          </a:prstGeom>
          <a:noFill/>
        </p:spPr>
        <p:txBody>
          <a:bodyPr wrap="square" rtlCol="0">
            <a:spAutoFit/>
          </a:bodyPr>
          <a:lstStyle/>
          <a:p>
            <a:pPr algn="ctr"/>
            <a:r>
              <a:rPr lang="en-US" sz="3200" b="1" dirty="0">
                <a:solidFill>
                  <a:srgbClr val="0033CC"/>
                </a:solidFill>
                <a:latin typeface="Times New Roman" panose="02020603050405020304" pitchFamily="18" charset="0"/>
                <a:cs typeface="Times New Roman" panose="02020603050405020304" pitchFamily="18" charset="0"/>
              </a:rPr>
              <a:t>PROJECT TITLE</a:t>
            </a:r>
          </a:p>
          <a:p>
            <a:pPr algn="ctr"/>
            <a:r>
              <a:rPr lang="en-US" sz="3200" b="1" dirty="0">
                <a:solidFill>
                  <a:srgbClr val="0033CC"/>
                </a:solidFill>
              </a:rPr>
              <a:t>“Design and Development of a React.js-Based Ticket Booking System for Internal Department Events”</a:t>
            </a:r>
            <a:endParaRPr lang="en-US" sz="3200" dirty="0">
              <a:solidFill>
                <a:srgbClr val="0033CC"/>
              </a:solidFill>
            </a:endParaRPr>
          </a:p>
          <a:p>
            <a:pPr algn="ct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654414"/>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err="1">
                <a:latin typeface="Cambria" panose="02040503050406030204" pitchFamily="18" charset="0"/>
                <a:ea typeface="Cambria" panose="02040503050406030204" pitchFamily="18" charset="0"/>
              </a:rPr>
              <a:t>N.Kathyayini</a:t>
            </a:r>
            <a:r>
              <a:rPr lang="en-US" sz="3000" dirty="0">
                <a:latin typeface="Cambria" panose="02040503050406030204" pitchFamily="18" charset="0"/>
                <a:ea typeface="Cambria" panose="02040503050406030204" pitchFamily="18" charset="0"/>
              </a:rPr>
              <a:t> – VTU25138– 23UECS0830</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1460744" y="7654414"/>
            <a:ext cx="6914603" cy="2084160"/>
          </a:xfrm>
          <a:prstGeom prst="rect">
            <a:avLst/>
          </a:prstGeom>
          <a:noFill/>
        </p:spPr>
        <p:txBody>
          <a:bodyPr wrap="square" rtlCol="0">
            <a:spAutoFit/>
          </a:bodyPr>
          <a:lstStyle/>
          <a:p>
            <a:pPr algn="ctr">
              <a:lnSpc>
                <a:spcPct val="150000"/>
              </a:lnSpc>
            </a:pPr>
            <a:r>
              <a:rPr lang="en-US" sz="3000" b="1" dirty="0">
                <a:latin typeface="Cambria" panose="02040503050406030204" pitchFamily="18" charset="0"/>
                <a:ea typeface="Cambria" panose="02040503050406030204" pitchFamily="18" charset="0"/>
              </a:rPr>
              <a:t>Courses Handling Faculty:</a:t>
            </a:r>
          </a:p>
          <a:p>
            <a:pPr algn="ctr">
              <a:lnSpc>
                <a:spcPct val="150000"/>
              </a:lnSpc>
            </a:pPr>
            <a:r>
              <a:rPr lang="en-US" sz="3000" dirty="0">
                <a:latin typeface="Cambria" panose="02040503050406030204" pitchFamily="18" charset="0"/>
                <a:ea typeface="Cambria" panose="02040503050406030204" pitchFamily="18" charset="0"/>
              </a:rPr>
              <a:t>Dr. Angeline Lydia</a:t>
            </a:r>
          </a:p>
          <a:p>
            <a:pPr algn="ctr">
              <a:lnSpc>
                <a:spcPct val="150000"/>
              </a:lnSpc>
            </a:pP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                                                                                SDG: SDG No – SDG 4 – Quality Education</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209800" y="1638300"/>
            <a:ext cx="15082325" cy="8279190"/>
          </a:xfrm>
          <a:prstGeom prst="rect">
            <a:avLst/>
          </a:prstGeom>
          <a:noFill/>
        </p:spPr>
        <p:txBody>
          <a:bodyPr wrap="square" rtlCol="0">
            <a:spAutoFit/>
          </a:bodyPr>
          <a:lstStyle/>
          <a:p>
            <a:r>
              <a:rPr lang="en-US" sz="2800" b="1" dirty="0"/>
              <a:t>Problem: </a:t>
            </a:r>
            <a:r>
              <a:rPr lang="en-US" sz="2800" dirty="0"/>
              <a:t>Students and staff often face difficulties in booking tickets for internal department events like technical fests, seminars, and workshops due to manual registration processes, lack of centralized systems, and limited seat tracking.</a:t>
            </a:r>
          </a:p>
          <a:p>
            <a:r>
              <a:rPr lang="en-US" sz="2800" b="1" dirty="0"/>
              <a:t>Why it matters: </a:t>
            </a:r>
            <a:r>
              <a:rPr lang="en-US" sz="2800" dirty="0"/>
              <a:t>An efficient ticket booking system ensures smooth event participation, avoids overcrowding, and helps organizers manage registrations accurately while providing a better experience for users.</a:t>
            </a:r>
          </a:p>
          <a:p>
            <a:r>
              <a:rPr lang="en-US" sz="2800" b="1" dirty="0"/>
              <a:t>Real-world relevance: </a:t>
            </a:r>
            <a:r>
              <a:rPr lang="en-US" sz="2800" dirty="0"/>
              <a:t>This system is useful for colleges and organizations to handle event registrations digitally, reducing paperwork and enabling quick access for students, faculty, and event coordinators.</a:t>
            </a:r>
          </a:p>
          <a:p>
            <a:r>
              <a:rPr lang="en-US" sz="2800" b="1" dirty="0"/>
              <a:t>What the system does: </a:t>
            </a:r>
            <a:r>
              <a:rPr lang="en-US" sz="2800" dirty="0"/>
              <a:t>A web-based application built using React.js that allows users to browse upcoming events, book tickets, and manage their registrations in a structured and user-friendly way.</a:t>
            </a:r>
          </a:p>
          <a:p>
            <a:r>
              <a:rPr lang="en-US" sz="2800" b="1" dirty="0"/>
              <a:t>Key features: </a:t>
            </a:r>
            <a:r>
              <a:rPr lang="en-US" sz="2800" dirty="0"/>
              <a:t>User authentication, event listing (technical fest, seminars, workshops), ticket booking, seat availability tracking, dashboard overview, and secure data management.</a:t>
            </a:r>
          </a:p>
          <a:p>
            <a:r>
              <a:rPr lang="en-US" sz="2800" b="1" dirty="0"/>
              <a:t>User experience: </a:t>
            </a:r>
            <a:r>
              <a:rPr lang="en-US" sz="2800" dirty="0"/>
              <a:t>A clean, responsive, and interactive interface with easy navigation, real-time updates on ticket availability, and a seamless booking process.</a:t>
            </a:r>
          </a:p>
          <a:p>
            <a:r>
              <a:rPr lang="en-US" sz="2800" b="1" dirty="0"/>
              <a:t>Benefits: </a:t>
            </a:r>
            <a:r>
              <a:rPr lang="en-US" sz="2800" dirty="0"/>
              <a:t>Saves time, reduces manual effort, improves event organization, and provides a hassle-free booking experience for users.</a:t>
            </a:r>
          </a:p>
          <a:p>
            <a:r>
              <a:rPr lang="en-US" sz="2800" b="1" dirty="0"/>
              <a:t>Impact / SDGs: </a:t>
            </a:r>
            <a:r>
              <a:rPr lang="en-US" sz="2800" dirty="0"/>
              <a:t>Supports </a:t>
            </a:r>
            <a:r>
              <a:rPr lang="en-US" sz="2800" b="1" dirty="0"/>
              <a:t>SDG 9 – Industry, Innovation and Infrastructure</a:t>
            </a:r>
            <a:r>
              <a:rPr lang="en-US" sz="2800" dirty="0"/>
              <a:t> by promoting digital solutions and </a:t>
            </a:r>
            <a:r>
              <a:rPr lang="en-US" sz="2800" b="1" dirty="0"/>
              <a:t>SDG 4 – Quality Education</a:t>
            </a:r>
            <a:r>
              <a:rPr lang="en-US" sz="2800" dirty="0"/>
              <a:t> by enhancing access to academic and technical events.</a:t>
            </a:r>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212C0909-15E0-E3CE-9185-50D6E7F006CE}"/>
              </a:ext>
            </a:extLst>
          </p:cNvPr>
          <p:cNvSpPr>
            <a:spLocks noChangeArrowheads="1"/>
          </p:cNvSpPr>
          <p:nvPr/>
        </p:nvSpPr>
        <p:spPr bwMode="auto">
          <a:xfrm>
            <a:off x="1981200" y="1741462"/>
            <a:ext cx="15087600" cy="74174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Time-consuming:</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Manual event registration and ticket booking consume significant time and effort for both users and organizers.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accessibility:</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Users may not have a centralized platform to view all upcoming department events </a:t>
            </a:r>
            <a:r>
              <a:rPr lang="en-US" altLang="en-US" sz="2800" dirty="0">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tabLst/>
            </a:pPr>
            <a:endParaRPr lang="en-US" altLang="en-US" sz="28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Poor event management:</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Difficulty in tracking registrations, seat availability, and participant details efficiently.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loss risk:</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Manual or unstructured systems may lead to loss of participant and booking information.</a:t>
            </a:r>
          </a:p>
          <a:p>
            <a:pPr marL="0" marR="0" lvl="0" indent="0" algn="l" defTabSz="914400" rtl="0" eaLnBrk="0" fontAlgn="base" latinLnBrk="0" hangingPunct="0">
              <a:lnSpc>
                <a:spcPct val="100000"/>
              </a:lnSpc>
              <a:spcBef>
                <a:spcPct val="0"/>
              </a:spcBef>
              <a:spcAft>
                <a:spcPct val="0"/>
              </a:spcAft>
              <a:buClrTx/>
              <a:buSzTx/>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Security concerns: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 data and booking details may not be handled securely in traditional systems.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real-time updates: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Users cannot get instant updates on ticket availability or event status.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Need:</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secure and responsive web application to manage event listings, ticket booking, and user data efficiently using modern technologies like React.js.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52" name="TextBox 51">
            <a:extLst>
              <a:ext uri="{FF2B5EF4-FFF2-40B4-BE49-F238E27FC236}">
                <a16:creationId xmlns:a16="http://schemas.microsoft.com/office/drawing/2014/main" id="{056A0A3A-1541-5EC0-5370-02DA282ABDDE}"/>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Design &amp; develop:</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To build a responsive React.js-based web application that enables users to easily browse, book, and manage tickets for internal department events (target: reduce manual registration effort by ≥50%).</a:t>
            </a:r>
          </a:p>
          <a:p>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Implement &amp; evaluate:</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To provide real-time event updates, secure user authentication, efficient ticket management, seat availability tracking, and persistent data storage for seamless user experience across sessions.</a:t>
            </a:r>
          </a:p>
          <a:p>
            <a:pPr marL="457200" indent="-457200">
              <a:buFontTx/>
              <a:buChar char="-"/>
            </a:pP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209800" y="1638300"/>
            <a:ext cx="15082325" cy="7417415"/>
          </a:xfrm>
          <a:prstGeom prst="rect">
            <a:avLst/>
          </a:prstGeom>
          <a:noFill/>
        </p:spPr>
        <p:txBody>
          <a:bodyPr wrap="square" rtlCol="0">
            <a:spAutoFit/>
          </a:bodyPr>
          <a:lstStyle/>
          <a:p>
            <a:pPr marL="514350" indent="-514350">
              <a:buFont typeface="+mj-lt"/>
              <a:buAutoNum type="arabicPeriod"/>
            </a:pPr>
            <a:r>
              <a:rPr lang="en-US" sz="2800" b="1" dirty="0">
                <a:latin typeface="Times New Roman" panose="02020603050405020304" pitchFamily="18" charset="0"/>
                <a:cs typeface="Times New Roman" panose="02020603050405020304" pitchFamily="18" charset="0"/>
              </a:rPr>
              <a:t>Overview:</a:t>
            </a:r>
            <a:r>
              <a:rPr lang="en-US" sz="2800" dirty="0">
                <a:latin typeface="Times New Roman" panose="02020603050405020304" pitchFamily="18" charset="0"/>
                <a:cs typeface="Times New Roman" panose="02020603050405020304" pitchFamily="18" charset="0"/>
              </a:rPr>
              <a:t> Lightweight web application that enables users to browse, book, and manage tickets for internal department events with real-time updates and secure access. </a:t>
            </a:r>
          </a:p>
          <a:p>
            <a:pPr marL="514350" indent="-514350">
              <a:buFont typeface="+mj-lt"/>
              <a:buAutoNum type="arabicPeriod"/>
            </a:pPr>
            <a:r>
              <a:rPr lang="en-US" sz="2800" b="1" dirty="0">
                <a:latin typeface="Times New Roman" panose="02020603050405020304" pitchFamily="18" charset="0"/>
                <a:cs typeface="Times New Roman" panose="02020603050405020304" pitchFamily="18" charset="0"/>
              </a:rPr>
              <a:t>Automation:</a:t>
            </a:r>
            <a:r>
              <a:rPr lang="en-US" sz="2800" dirty="0">
                <a:latin typeface="Times New Roman" panose="02020603050405020304" pitchFamily="18" charset="0"/>
                <a:cs typeface="Times New Roman" panose="02020603050405020304" pitchFamily="18" charset="0"/>
              </a:rPr>
              <a:t> Automated event listing, ticket booking, and seat allocation reduce manual registration effort and improve event management efficiency. </a:t>
            </a:r>
          </a:p>
          <a:p>
            <a:pPr marL="514350" indent="-514350">
              <a:buFont typeface="+mj-lt"/>
              <a:buAutoNum type="arabicPeriod"/>
            </a:pPr>
            <a:r>
              <a:rPr lang="en-US" sz="2800" b="1" dirty="0">
                <a:latin typeface="Times New Roman" panose="02020603050405020304" pitchFamily="18" charset="0"/>
                <a:cs typeface="Times New Roman" panose="02020603050405020304" pitchFamily="18" charset="0"/>
              </a:rPr>
              <a:t>Real-Time Updates:</a:t>
            </a:r>
            <a:r>
              <a:rPr lang="en-US" sz="2800" dirty="0">
                <a:latin typeface="Times New Roman" panose="02020603050405020304" pitchFamily="18" charset="0"/>
                <a:cs typeface="Times New Roman" panose="02020603050405020304" pitchFamily="18" charset="0"/>
              </a:rPr>
              <a:t> Instant updates on event availability, booking status, and seat capacity help users make quick decisions. </a:t>
            </a:r>
          </a:p>
          <a:p>
            <a:pPr marL="514350" indent="-514350">
              <a:buFont typeface="+mj-lt"/>
              <a:buAutoNum type="arabicPeriod"/>
            </a:pPr>
            <a:r>
              <a:rPr lang="en-US" sz="2800" b="1" dirty="0">
                <a:latin typeface="Times New Roman" panose="02020603050405020304" pitchFamily="18" charset="0"/>
                <a:cs typeface="Times New Roman" panose="02020603050405020304" pitchFamily="18" charset="0"/>
              </a:rPr>
              <a:t>Secure Access:</a:t>
            </a:r>
            <a:r>
              <a:rPr lang="en-US" sz="2800" dirty="0">
                <a:latin typeface="Times New Roman" panose="02020603050405020304" pitchFamily="18" charset="0"/>
                <a:cs typeface="Times New Roman" panose="02020603050405020304" pitchFamily="18" charset="0"/>
              </a:rPr>
              <a:t> User authentication and session management ensure that only authorized users can access booking details and personal information. </a:t>
            </a:r>
          </a:p>
          <a:p>
            <a:pPr marL="514350" indent="-514350">
              <a:buFont typeface="+mj-lt"/>
              <a:buAutoNum type="arabicPeriod"/>
            </a:pPr>
            <a:r>
              <a:rPr lang="en-US" sz="2800" b="1" dirty="0">
                <a:latin typeface="Times New Roman" panose="02020603050405020304" pitchFamily="18" charset="0"/>
                <a:cs typeface="Times New Roman" panose="02020603050405020304" pitchFamily="18" charset="0"/>
              </a:rPr>
              <a:t>Data Persistence:</a:t>
            </a:r>
            <a:r>
              <a:rPr lang="en-US" sz="2800" dirty="0">
                <a:latin typeface="Times New Roman" panose="02020603050405020304" pitchFamily="18" charset="0"/>
                <a:cs typeface="Times New Roman" panose="02020603050405020304" pitchFamily="18" charset="0"/>
              </a:rPr>
              <a:t> Event and booking data are securely stored in databases, ensuring consistency across sessions and devices. </a:t>
            </a:r>
          </a:p>
          <a:p>
            <a:pPr marL="514350" indent="-514350">
              <a:buFont typeface="+mj-lt"/>
              <a:buAutoNum type="arabicPeriod"/>
            </a:pPr>
            <a:r>
              <a:rPr lang="en-US" sz="2800" b="1" dirty="0">
                <a:latin typeface="Times New Roman" panose="02020603050405020304" pitchFamily="18" charset="0"/>
                <a:cs typeface="Times New Roman" panose="02020603050405020304" pitchFamily="18" charset="0"/>
              </a:rPr>
              <a:t>Collaboration:</a:t>
            </a:r>
            <a:r>
              <a:rPr lang="en-US" sz="2800" dirty="0">
                <a:latin typeface="Times New Roman" panose="02020603050405020304" pitchFamily="18" charset="0"/>
                <a:cs typeface="Times New Roman" panose="02020603050405020304" pitchFamily="18" charset="0"/>
              </a:rPr>
              <a:t> Enables organizers and participants to interact efficiently, with admins managing events and users accessing bookings seamlessly. </a:t>
            </a:r>
          </a:p>
          <a:p>
            <a:pPr marL="514350" indent="-514350">
              <a:buFont typeface="+mj-lt"/>
              <a:buAutoNum type="arabicPeriod"/>
            </a:pPr>
            <a:r>
              <a:rPr lang="en-US" sz="2800" b="1" dirty="0">
                <a:latin typeface="Times New Roman" panose="02020603050405020304" pitchFamily="18" charset="0"/>
                <a:cs typeface="Times New Roman" panose="02020603050405020304" pitchFamily="18" charset="0"/>
              </a:rPr>
              <a:t>Event Analytics:</a:t>
            </a:r>
            <a:r>
              <a:rPr lang="en-US" sz="2800" dirty="0">
                <a:latin typeface="Times New Roman" panose="02020603050405020304" pitchFamily="18" charset="0"/>
                <a:cs typeface="Times New Roman" panose="02020603050405020304" pitchFamily="18" charset="0"/>
              </a:rPr>
              <a:t> Dashboard for organizers to track registrations, monitor attendance, and analyze event participation trends. </a:t>
            </a:r>
          </a:p>
          <a:p>
            <a:pPr marL="514350" indent="-514350">
              <a:buFont typeface="+mj-lt"/>
              <a:buAutoNum type="arabicPeriod"/>
            </a:pPr>
            <a:r>
              <a:rPr lang="en-US" sz="2800" b="1" dirty="0">
                <a:latin typeface="Times New Roman" panose="02020603050405020304" pitchFamily="18" charset="0"/>
                <a:cs typeface="Times New Roman" panose="02020603050405020304" pitchFamily="18" charset="0"/>
              </a:rPr>
              <a:t>Advantages over current systems:</a:t>
            </a:r>
            <a:r>
              <a:rPr lang="en-US" sz="2800" dirty="0">
                <a:latin typeface="Times New Roman" panose="02020603050405020304" pitchFamily="18" charset="0"/>
                <a:cs typeface="Times New Roman" panose="02020603050405020304" pitchFamily="18" charset="0"/>
              </a:rPr>
              <a:t> Faster booking process, reduced manual work, real-time updates, secure data handling, improved event management, and a responsive web-based solution</a:t>
            </a:r>
            <a:r>
              <a:rPr lang="en-US" sz="2800" dirty="0"/>
              <a:t>. </a:t>
            </a:r>
          </a:p>
          <a:p>
            <a:pPr marL="457200" indent="-457200">
              <a:buFontTx/>
              <a:buChar char="-"/>
            </a:pP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1828800" y="4079178"/>
            <a:ext cx="16459200" cy="637097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Input :</a:t>
            </a:r>
          </a:p>
          <a:p>
            <a:r>
              <a:rPr lang="en-US" sz="2400" dirty="0">
                <a:latin typeface="Times New Roman" panose="02020603050405020304" pitchFamily="18" charset="0"/>
                <a:cs typeface="Times New Roman" panose="02020603050405020304" pitchFamily="18" charset="0"/>
              </a:rPr>
              <a:t>Users (students, participants, event organizers) interact with the system through the React-based UI:</a:t>
            </a:r>
          </a:p>
          <a:p>
            <a:r>
              <a:rPr lang="en-US" sz="2400" dirty="0">
                <a:latin typeface="Times New Roman" panose="02020603050405020304" pitchFamily="18" charset="0"/>
                <a:cs typeface="Times New Roman" panose="02020603050405020304" pitchFamily="18" charset="0"/>
              </a:rPr>
              <a:t>Enter personal details (name, email) ,Select event, date, time, and location ,Choose number of tickets ,Submit booking request </a:t>
            </a:r>
          </a:p>
          <a:p>
            <a:r>
              <a:rPr lang="en-US" sz="2400" dirty="0">
                <a:latin typeface="Times New Roman" panose="02020603050405020304" pitchFamily="18" charset="0"/>
                <a:cs typeface="Times New Roman" panose="02020603050405020304" pitchFamily="18" charset="0"/>
              </a:rPr>
              <a:t>View booking history and download QR-based tickets </a:t>
            </a:r>
          </a:p>
          <a:p>
            <a:r>
              <a:rPr lang="en-US" sz="2400" b="1" dirty="0">
                <a:latin typeface="Times New Roman" panose="02020603050405020304" pitchFamily="18" charset="0"/>
                <a:cs typeface="Times New Roman" panose="02020603050405020304" pitchFamily="18" charset="0"/>
              </a:rPr>
              <a:t> Processing :</a:t>
            </a:r>
          </a:p>
          <a:p>
            <a:r>
              <a:rPr lang="en-US" sz="2400" dirty="0">
                <a:latin typeface="Times New Roman" panose="02020603050405020304" pitchFamily="18" charset="0"/>
                <a:cs typeface="Times New Roman" panose="02020603050405020304" pitchFamily="18" charset="0"/>
              </a:rPr>
              <a:t>Server-side logic (or client-side logic in your current version) handles:</a:t>
            </a:r>
          </a:p>
          <a:p>
            <a:r>
              <a:rPr lang="en-US" sz="2400" dirty="0">
                <a:latin typeface="Times New Roman" panose="02020603050405020304" pitchFamily="18" charset="0"/>
                <a:cs typeface="Times New Roman" panose="02020603050405020304" pitchFamily="18" charset="0"/>
              </a:rPr>
              <a:t>Input validation (email, ticket count, required fields) ,Ticket availability check, Booking creation and updates, QR code generation for each booking ,Session handling / local storage management ,API request &amp; response handling (if backend is used).</a:t>
            </a:r>
          </a:p>
          <a:p>
            <a:r>
              <a:rPr lang="en-US" sz="2400" b="1" dirty="0">
                <a:latin typeface="Times New Roman" panose="02020603050405020304" pitchFamily="18" charset="0"/>
                <a:cs typeface="Times New Roman" panose="02020603050405020304" pitchFamily="18" charset="0"/>
              </a:rPr>
              <a:t>Database :</a:t>
            </a:r>
          </a:p>
          <a:p>
            <a:r>
              <a:rPr lang="en-US" sz="2400" dirty="0">
                <a:latin typeface="Times New Roman" panose="02020603050405020304" pitchFamily="18" charset="0"/>
                <a:cs typeface="Times New Roman" panose="02020603050405020304" pitchFamily="18" charset="0"/>
              </a:rPr>
              <a:t>The system stores and manages data such as:</a:t>
            </a:r>
          </a:p>
          <a:p>
            <a:r>
              <a:rPr lang="en-US" sz="2400" dirty="0">
                <a:latin typeface="Times New Roman" panose="02020603050405020304" pitchFamily="18" charset="0"/>
                <a:cs typeface="Times New Roman" panose="02020603050405020304" pitchFamily="18" charset="0"/>
              </a:rPr>
              <a:t>User details (name, email) ,Booking records (event, date, time, tickets) ,Event and location details ,Ticket availability count </a:t>
            </a:r>
          </a:p>
          <a:p>
            <a:r>
              <a:rPr lang="en-US" sz="2400" dirty="0">
                <a:latin typeface="Times New Roman" panose="02020603050405020304" pitchFamily="18" charset="0"/>
                <a:cs typeface="Times New Roman" panose="02020603050405020304" pitchFamily="18" charset="0"/>
              </a:rPr>
              <a:t>(Current system: uses </a:t>
            </a:r>
            <a:r>
              <a:rPr lang="en-US" sz="2400" b="1" dirty="0" err="1">
                <a:latin typeface="Times New Roman" panose="02020603050405020304" pitchFamily="18" charset="0"/>
                <a:cs typeface="Times New Roman" panose="02020603050405020304" pitchFamily="18" charset="0"/>
              </a:rPr>
              <a:t>localStorage</a:t>
            </a:r>
            <a:r>
              <a:rPr lang="en-US" sz="2400" dirty="0">
                <a:latin typeface="Times New Roman" panose="02020603050405020304" pitchFamily="18" charset="0"/>
                <a:cs typeface="Times New Roman" panose="02020603050405020304" pitchFamily="18" charset="0"/>
              </a:rPr>
              <a:t> instead of a real database) </a:t>
            </a:r>
          </a:p>
          <a:p>
            <a:r>
              <a:rPr lang="en-US" sz="2400" b="1" dirty="0">
                <a:latin typeface="Times New Roman" panose="02020603050405020304" pitchFamily="18" charset="0"/>
                <a:cs typeface="Times New Roman" panose="02020603050405020304" pitchFamily="18" charset="0"/>
              </a:rPr>
              <a:t> Output :</a:t>
            </a:r>
          </a:p>
          <a:p>
            <a:r>
              <a:rPr lang="en-US" sz="2400" dirty="0">
                <a:latin typeface="Times New Roman" panose="02020603050405020304" pitchFamily="18" charset="0"/>
                <a:cs typeface="Times New Roman" panose="02020603050405020304" pitchFamily="18" charset="0"/>
              </a:rPr>
              <a:t>The system provides results back to users via UI:</a:t>
            </a:r>
          </a:p>
          <a:p>
            <a:r>
              <a:rPr lang="en-US" sz="2400" dirty="0">
                <a:latin typeface="Times New Roman" panose="02020603050405020304" pitchFamily="18" charset="0"/>
                <a:cs typeface="Times New Roman" panose="02020603050405020304" pitchFamily="18" charset="0"/>
              </a:rPr>
              <a:t>Booking confirmation message ,Generated QR code for ticket validation ,Updated ticket availability count ,Booking history list </a:t>
            </a:r>
          </a:p>
          <a:p>
            <a:r>
              <a:rPr lang="en-US" sz="2400" dirty="0">
                <a:latin typeface="Times New Roman" panose="02020603050405020304" pitchFamily="18" charset="0"/>
                <a:cs typeface="Times New Roman" panose="02020603050405020304" pitchFamily="18" charset="0"/>
              </a:rPr>
              <a:t>Option to delete or manage bookings</a:t>
            </a:r>
          </a:p>
          <a:p>
            <a:pPr marL="457200" indent="-457200">
              <a:buFontTx/>
              <a:buChar char="-"/>
            </a:pPr>
            <a:endParaRPr lang="en-IN"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5603169-81B0-25DC-61A9-367224F8F59B}"/>
              </a:ext>
            </a:extLst>
          </p:cNvPr>
          <p:cNvPicPr>
            <a:picLocks noChangeAspect="1"/>
          </p:cNvPicPr>
          <p:nvPr/>
        </p:nvPicPr>
        <p:blipFill>
          <a:blip r:embed="rId3">
            <a:extLst>
              <a:ext uri="{28A0092B-C50C-407E-A947-70E740481C1C}">
                <a14:useLocalDpi xmlns:a14="http://schemas.microsoft.com/office/drawing/2010/main" val="0"/>
              </a:ext>
            </a:extLst>
          </a:blip>
          <a:srcRect t="17556" b="11418"/>
          <a:stretch>
            <a:fillRect/>
          </a:stretch>
        </p:blipFill>
        <p:spPr>
          <a:xfrm>
            <a:off x="3276600" y="1204357"/>
            <a:ext cx="12115800" cy="32766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4ABFCA90-77A0-279D-E9F2-AA200710B710}"/>
              </a:ext>
            </a:extLst>
          </p:cNvPr>
          <p:cNvPicPr>
            <a:picLocks noChangeAspect="1"/>
          </p:cNvPicPr>
          <p:nvPr/>
        </p:nvPicPr>
        <p:blipFill>
          <a:blip r:embed="rId3">
            <a:extLst>
              <a:ext uri="{28A0092B-C50C-407E-A947-70E740481C1C}">
                <a14:useLocalDpi xmlns:a14="http://schemas.microsoft.com/office/drawing/2010/main" val="0"/>
              </a:ext>
            </a:extLst>
          </a:blip>
          <a:srcRect t="9984" b="-1"/>
          <a:stretch>
            <a:fillRect/>
          </a:stretch>
        </p:blipFill>
        <p:spPr>
          <a:xfrm>
            <a:off x="2286000" y="1546069"/>
            <a:ext cx="14630400" cy="754512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7848302"/>
          </a:xfrm>
          <a:prstGeom prst="rect">
            <a:avLst/>
          </a:prstGeom>
          <a:noFill/>
        </p:spPr>
        <p:txBody>
          <a:bodyPr wrap="square" rtlCol="0">
            <a:spAutoFit/>
          </a:bodyPr>
          <a:lstStyle/>
          <a:p>
            <a:r>
              <a:rPr lang="en-IN" sz="2800" b="1" dirty="0"/>
              <a:t>Frontend :</a:t>
            </a:r>
          </a:p>
          <a:p>
            <a:r>
              <a:rPr lang="en-IN" sz="2800" dirty="0"/>
              <a:t>HTML, CSS (Tailwind), JavaScript </a:t>
            </a:r>
          </a:p>
          <a:p>
            <a:r>
              <a:rPr lang="en-IN" sz="2800" dirty="0"/>
              <a:t>Responsive UI for booking, availability, history, and QR display </a:t>
            </a:r>
          </a:p>
          <a:p>
            <a:r>
              <a:rPr lang="en-IN" sz="2800" b="1" dirty="0"/>
              <a:t>Backend  :</a:t>
            </a:r>
          </a:p>
          <a:p>
            <a:r>
              <a:rPr lang="en-IN" sz="2800" dirty="0"/>
              <a:t>Node.js + Express </a:t>
            </a:r>
          </a:p>
          <a:p>
            <a:r>
              <a:rPr lang="en-IN" sz="2800" dirty="0"/>
              <a:t>Handles APIs, validation, booking logic, authentication </a:t>
            </a:r>
          </a:p>
          <a:p>
            <a:r>
              <a:rPr lang="en-IN" sz="2800" b="1" dirty="0"/>
              <a:t>Database :</a:t>
            </a:r>
          </a:p>
          <a:p>
            <a:r>
              <a:rPr lang="en-IN" sz="2800" dirty="0"/>
              <a:t>Current: </a:t>
            </a:r>
            <a:r>
              <a:rPr lang="en-IN" sz="2800" dirty="0" err="1"/>
              <a:t>localStorage</a:t>
            </a:r>
            <a:r>
              <a:rPr lang="en-IN" sz="2800" dirty="0"/>
              <a:t> </a:t>
            </a:r>
          </a:p>
          <a:p>
            <a:r>
              <a:rPr lang="en-IN" sz="2800" dirty="0"/>
              <a:t>Future: MySQL / PostgreSQL / MongoDB </a:t>
            </a:r>
          </a:p>
          <a:p>
            <a:r>
              <a:rPr lang="en-IN" sz="2800" dirty="0"/>
              <a:t>Stores users, bookings, events, tickets </a:t>
            </a:r>
          </a:p>
          <a:p>
            <a:r>
              <a:rPr lang="en-IN" sz="2800" b="1" dirty="0"/>
              <a:t>Tools :</a:t>
            </a:r>
          </a:p>
          <a:p>
            <a:r>
              <a:rPr lang="en-IN" sz="2800" dirty="0"/>
              <a:t>VS Code, Git, Postman </a:t>
            </a:r>
          </a:p>
          <a:p>
            <a:r>
              <a:rPr lang="en-IN" sz="2800" dirty="0"/>
              <a:t>QRCode.js for ticket generation </a:t>
            </a:r>
          </a:p>
          <a:p>
            <a:r>
              <a:rPr lang="en-IN" sz="2800" b="1" dirty="0"/>
              <a:t>Requirements:</a:t>
            </a:r>
          </a:p>
          <a:p>
            <a:r>
              <a:rPr lang="en-IN" sz="2800" dirty="0"/>
              <a:t>Browser (Chrome/Edge/Firefox) </a:t>
            </a:r>
          </a:p>
          <a:p>
            <a:r>
              <a:rPr lang="en-IN" sz="2800" dirty="0"/>
              <a:t>Node.js (if backend used) </a:t>
            </a:r>
          </a:p>
          <a:p>
            <a:r>
              <a:rPr lang="en-IN" sz="2800" dirty="0"/>
              <a:t>Minimum: 1GB RAM </a:t>
            </a:r>
          </a:p>
          <a:p>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1958048" y="1028700"/>
            <a:ext cx="15212622" cy="9694962"/>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Module 1 — User Input</a:t>
            </a:r>
          </a:p>
          <a:p>
            <a:r>
              <a:rPr lang="en-IN" sz="2400" dirty="0">
                <a:latin typeface="Times New Roman" panose="02020603050405020304" pitchFamily="18" charset="0"/>
                <a:cs typeface="Times New Roman" panose="02020603050405020304" pitchFamily="18" charset="0"/>
              </a:rPr>
              <a:t>Collect user details (name, email) </a:t>
            </a:r>
          </a:p>
          <a:p>
            <a:r>
              <a:rPr lang="en-IN" sz="2400" dirty="0">
                <a:latin typeface="Times New Roman" panose="02020603050405020304" pitchFamily="18" charset="0"/>
                <a:cs typeface="Times New Roman" panose="02020603050405020304" pitchFamily="18" charset="0"/>
              </a:rPr>
              <a:t>Select event, date, time, location, tickets </a:t>
            </a:r>
          </a:p>
          <a:p>
            <a:r>
              <a:rPr lang="en-IN" sz="2400" b="1" dirty="0">
                <a:latin typeface="Times New Roman" panose="02020603050405020304" pitchFamily="18" charset="0"/>
                <a:cs typeface="Times New Roman" panose="02020603050405020304" pitchFamily="18" charset="0"/>
              </a:rPr>
              <a:t>Module 2 — Booking Management</a:t>
            </a:r>
          </a:p>
          <a:p>
            <a:r>
              <a:rPr lang="en-IN" sz="2400" dirty="0">
                <a:latin typeface="Times New Roman" panose="02020603050405020304" pitchFamily="18" charset="0"/>
                <a:cs typeface="Times New Roman" panose="02020603050405020304" pitchFamily="18" charset="0"/>
              </a:rPr>
              <a:t>Create and store bookings </a:t>
            </a:r>
          </a:p>
          <a:p>
            <a:r>
              <a:rPr lang="en-IN" sz="2400" dirty="0">
                <a:latin typeface="Times New Roman" panose="02020603050405020304" pitchFamily="18" charset="0"/>
                <a:cs typeface="Times New Roman" panose="02020603050405020304" pitchFamily="18" charset="0"/>
              </a:rPr>
              <a:t>Manage ticket availability </a:t>
            </a:r>
          </a:p>
          <a:p>
            <a:r>
              <a:rPr lang="en-IN" sz="2400" dirty="0">
                <a:latin typeface="Times New Roman" panose="02020603050405020304" pitchFamily="18" charset="0"/>
                <a:cs typeface="Times New Roman" panose="02020603050405020304" pitchFamily="18" charset="0"/>
              </a:rPr>
              <a:t>Update/delete bookings </a:t>
            </a:r>
          </a:p>
          <a:p>
            <a:r>
              <a:rPr lang="en-IN" sz="2400" b="1" dirty="0">
                <a:latin typeface="Times New Roman" panose="02020603050405020304" pitchFamily="18" charset="0"/>
                <a:cs typeface="Times New Roman" panose="02020603050405020304" pitchFamily="18" charset="0"/>
              </a:rPr>
              <a:t>Module 3 — Validation &amp; Processing</a:t>
            </a:r>
          </a:p>
          <a:p>
            <a:r>
              <a:rPr lang="en-IN" sz="2400" dirty="0">
                <a:latin typeface="Times New Roman" panose="02020603050405020304" pitchFamily="18" charset="0"/>
                <a:cs typeface="Times New Roman" panose="02020603050405020304" pitchFamily="18" charset="0"/>
              </a:rPr>
              <a:t>Validate inputs (email, fields) </a:t>
            </a:r>
          </a:p>
          <a:p>
            <a:r>
              <a:rPr lang="en-IN" sz="2400" dirty="0">
                <a:latin typeface="Times New Roman" panose="02020603050405020304" pitchFamily="18" charset="0"/>
                <a:cs typeface="Times New Roman" panose="02020603050405020304" pitchFamily="18" charset="0"/>
              </a:rPr>
              <a:t>Check ticket limits </a:t>
            </a:r>
          </a:p>
          <a:p>
            <a:r>
              <a:rPr lang="en-IN" sz="2400" dirty="0">
                <a:latin typeface="Times New Roman" panose="02020603050405020304" pitchFamily="18" charset="0"/>
                <a:cs typeface="Times New Roman" panose="02020603050405020304" pitchFamily="18" charset="0"/>
              </a:rPr>
              <a:t>Process booking logic </a:t>
            </a:r>
          </a:p>
          <a:p>
            <a:r>
              <a:rPr lang="en-IN" sz="2400" b="1" dirty="0">
                <a:latin typeface="Times New Roman" panose="02020603050405020304" pitchFamily="18" charset="0"/>
                <a:cs typeface="Times New Roman" panose="02020603050405020304" pitchFamily="18" charset="0"/>
              </a:rPr>
              <a:t> Module 4 — QR Code Generation</a:t>
            </a:r>
          </a:p>
          <a:p>
            <a:r>
              <a:rPr lang="en-IN" sz="2400" dirty="0">
                <a:latin typeface="Times New Roman" panose="02020603050405020304" pitchFamily="18" charset="0"/>
                <a:cs typeface="Times New Roman" panose="02020603050405020304" pitchFamily="18" charset="0"/>
              </a:rPr>
              <a:t>Generate QR code for each booking </a:t>
            </a:r>
          </a:p>
          <a:p>
            <a:r>
              <a:rPr lang="en-IN" sz="2400" dirty="0">
                <a:latin typeface="Times New Roman" panose="02020603050405020304" pitchFamily="18" charset="0"/>
                <a:cs typeface="Times New Roman" panose="02020603050405020304" pitchFamily="18" charset="0"/>
              </a:rPr>
              <a:t>Used for ticket verification </a:t>
            </a:r>
          </a:p>
          <a:p>
            <a:r>
              <a:rPr lang="en-IN" sz="2400" b="1" dirty="0">
                <a:latin typeface="Times New Roman" panose="02020603050405020304" pitchFamily="18" charset="0"/>
                <a:cs typeface="Times New Roman" panose="02020603050405020304" pitchFamily="18" charset="0"/>
              </a:rPr>
              <a:t> Module 5 — Storage Management</a:t>
            </a:r>
          </a:p>
          <a:p>
            <a:r>
              <a:rPr lang="en-IN" sz="2400" dirty="0">
                <a:latin typeface="Times New Roman" panose="02020603050405020304" pitchFamily="18" charset="0"/>
                <a:cs typeface="Times New Roman" panose="02020603050405020304" pitchFamily="18" charset="0"/>
              </a:rPr>
              <a:t>Store bookings using </a:t>
            </a:r>
            <a:r>
              <a:rPr lang="en-IN" sz="2400" dirty="0" err="1">
                <a:latin typeface="Times New Roman" panose="02020603050405020304" pitchFamily="18" charset="0"/>
                <a:cs typeface="Times New Roman" panose="02020603050405020304" pitchFamily="18" charset="0"/>
              </a:rPr>
              <a:t>localStorage</a:t>
            </a:r>
            <a:r>
              <a:rPr lang="en-IN" sz="2400" dirty="0">
                <a:latin typeface="Times New Roman" panose="02020603050405020304" pitchFamily="18" charset="0"/>
                <a:cs typeface="Times New Roman" panose="02020603050405020304" pitchFamily="18" charset="0"/>
              </a:rPr>
              <a:t> </a:t>
            </a:r>
          </a:p>
          <a:p>
            <a:r>
              <a:rPr lang="en-IN" sz="2400" dirty="0">
                <a:latin typeface="Times New Roman" panose="02020603050405020304" pitchFamily="18" charset="0"/>
                <a:cs typeface="Times New Roman" panose="02020603050405020304" pitchFamily="18" charset="0"/>
              </a:rPr>
              <a:t>Maintain ticket count </a:t>
            </a:r>
          </a:p>
          <a:p>
            <a:r>
              <a:rPr lang="en-IN" sz="2400" b="1" dirty="0">
                <a:latin typeface="Times New Roman" panose="02020603050405020304" pitchFamily="18" charset="0"/>
                <a:cs typeface="Times New Roman" panose="02020603050405020304" pitchFamily="18" charset="0"/>
              </a:rPr>
              <a:t>Module 6 — History &amp; Management</a:t>
            </a:r>
          </a:p>
          <a:p>
            <a:r>
              <a:rPr lang="en-IN" sz="2400" dirty="0">
                <a:latin typeface="Times New Roman" panose="02020603050405020304" pitchFamily="18" charset="0"/>
                <a:cs typeface="Times New Roman" panose="02020603050405020304" pitchFamily="18" charset="0"/>
              </a:rPr>
              <a:t>Display booking history </a:t>
            </a:r>
          </a:p>
          <a:p>
            <a:r>
              <a:rPr lang="en-IN" sz="2400" dirty="0">
                <a:latin typeface="Times New Roman" panose="02020603050405020304" pitchFamily="18" charset="0"/>
                <a:cs typeface="Times New Roman" panose="02020603050405020304" pitchFamily="18" charset="0"/>
              </a:rPr>
              <a:t>Delete individual bookings </a:t>
            </a:r>
          </a:p>
          <a:p>
            <a:r>
              <a:rPr lang="en-IN" sz="2400" dirty="0">
                <a:latin typeface="Times New Roman" panose="02020603050405020304" pitchFamily="18" charset="0"/>
                <a:cs typeface="Times New Roman" panose="02020603050405020304" pitchFamily="18" charset="0"/>
              </a:rPr>
              <a:t>Clear all bookings </a:t>
            </a:r>
          </a:p>
          <a:p>
            <a:r>
              <a:rPr lang="en-IN" sz="2400" b="1" dirty="0">
                <a:latin typeface="Times New Roman" panose="02020603050405020304" pitchFamily="18" charset="0"/>
                <a:cs typeface="Times New Roman" panose="02020603050405020304" pitchFamily="18" charset="0"/>
              </a:rPr>
              <a:t> Module 7 — Output &amp; Confirmation</a:t>
            </a:r>
          </a:p>
          <a:p>
            <a:r>
              <a:rPr lang="en-IN" sz="2400" dirty="0">
                <a:latin typeface="Times New Roman" panose="02020603050405020304" pitchFamily="18" charset="0"/>
                <a:cs typeface="Times New Roman" panose="02020603050405020304" pitchFamily="18" charset="0"/>
              </a:rPr>
              <a:t>Show booking confirmation </a:t>
            </a:r>
          </a:p>
          <a:p>
            <a:r>
              <a:rPr lang="en-IN" sz="2400" dirty="0">
                <a:latin typeface="Times New Roman" panose="02020603050405020304" pitchFamily="18" charset="0"/>
                <a:cs typeface="Times New Roman" panose="02020603050405020304" pitchFamily="18" charset="0"/>
              </a:rPr>
              <a:t>Display QR code and details </a:t>
            </a:r>
          </a:p>
          <a:p>
            <a:r>
              <a:rPr lang="en-IN" sz="2400" dirty="0">
                <a:latin typeface="Times New Roman" panose="02020603050405020304" pitchFamily="18" charset="0"/>
                <a:cs typeface="Times New Roman" panose="02020603050405020304" pitchFamily="18" charset="0"/>
              </a:rPr>
              <a:t>Update available tickets in real-time </a:t>
            </a: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5E43377-947A-FD48-08E9-0C0C3D34C7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1338" y="2195101"/>
            <a:ext cx="5725324" cy="5896798"/>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533400" y="181145"/>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394ED737-8789-0CCB-4C26-86787A3DC2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9909" y="2271311"/>
            <a:ext cx="6230219" cy="5744377"/>
          </a:xfrm>
          <a:prstGeom prst="rect">
            <a:avLst/>
          </a:prstGeom>
        </p:spPr>
      </p:pic>
      <p:pic>
        <p:nvPicPr>
          <p:cNvPr id="6" name="Picture 5">
            <a:extLst>
              <a:ext uri="{FF2B5EF4-FFF2-40B4-BE49-F238E27FC236}">
                <a16:creationId xmlns:a16="http://schemas.microsoft.com/office/drawing/2014/main" id="{2F6BC54E-9513-738D-7825-45C5B12AA5A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74693" y="2254251"/>
            <a:ext cx="6754168" cy="6268325"/>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3237676E-0F2F-C0C9-A3C4-C78ECFC87D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86400" y="2025547"/>
            <a:ext cx="7924800" cy="6755566"/>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DA3224D4-D1EE-A13B-668C-D3E31120095B}"/>
              </a:ext>
            </a:extLst>
          </p:cNvPr>
          <p:cNvSpPr txBox="1"/>
          <p:nvPr/>
        </p:nvSpPr>
        <p:spPr>
          <a:xfrm>
            <a:off x="2617631" y="1765695"/>
            <a:ext cx="14641669" cy="6986528"/>
          </a:xfrm>
          <a:prstGeom prst="rect">
            <a:avLst/>
          </a:prstGeom>
          <a:noFill/>
        </p:spPr>
        <p:txBody>
          <a:bodyPr wrap="square">
            <a:spAutoFit/>
          </a:bodyPr>
          <a:lstStyle/>
          <a:p>
            <a:pPr marL="514350" indent="-514350">
              <a:buFont typeface="+mj-lt"/>
              <a:buAutoNum type="arabicPeriod"/>
            </a:pPr>
            <a:r>
              <a:rPr lang="en-US" sz="2800" b="1" dirty="0">
                <a:latin typeface="Times New Roman" panose="02020603050405020304" pitchFamily="18" charset="0"/>
                <a:cs typeface="Times New Roman" panose="02020603050405020304" pitchFamily="18" charset="0"/>
              </a:rPr>
              <a:t>Advantages :</a:t>
            </a:r>
          </a:p>
          <a:p>
            <a:r>
              <a:rPr lang="en-US" sz="2800" b="1" dirty="0">
                <a:latin typeface="Times New Roman" panose="02020603050405020304" pitchFamily="18" charset="0"/>
                <a:cs typeface="Times New Roman" panose="02020603050405020304" pitchFamily="18" charset="0"/>
              </a:rPr>
              <a:t>Easy Booking Process:</a:t>
            </a:r>
            <a:r>
              <a:rPr lang="en-US" sz="2800" dirty="0">
                <a:latin typeface="Times New Roman" panose="02020603050405020304" pitchFamily="18" charset="0"/>
                <a:cs typeface="Times New Roman" panose="02020603050405020304" pitchFamily="18" charset="0"/>
              </a:rPr>
              <a:t> Simple interface for quick ticket booking </a:t>
            </a:r>
          </a:p>
          <a:p>
            <a:r>
              <a:rPr lang="en-US" sz="2800" b="1" dirty="0">
                <a:latin typeface="Times New Roman" panose="02020603050405020304" pitchFamily="18" charset="0"/>
                <a:cs typeface="Times New Roman" panose="02020603050405020304" pitchFamily="18" charset="0"/>
              </a:rPr>
              <a:t>Real-Time Availability:</a:t>
            </a:r>
            <a:r>
              <a:rPr lang="en-US" sz="2800" dirty="0">
                <a:latin typeface="Times New Roman" panose="02020603050405020304" pitchFamily="18" charset="0"/>
                <a:cs typeface="Times New Roman" panose="02020603050405020304" pitchFamily="18" charset="0"/>
              </a:rPr>
              <a:t> Instantly updates available ticket count </a:t>
            </a:r>
          </a:p>
          <a:p>
            <a:r>
              <a:rPr lang="en-US" sz="2800" b="1" dirty="0">
                <a:latin typeface="Times New Roman" panose="02020603050405020304" pitchFamily="18" charset="0"/>
                <a:cs typeface="Times New Roman" panose="02020603050405020304" pitchFamily="18" charset="0"/>
              </a:rPr>
              <a:t>QR Code Tickets:</a:t>
            </a:r>
            <a:r>
              <a:rPr lang="en-US" sz="2800" dirty="0">
                <a:latin typeface="Times New Roman" panose="02020603050405020304" pitchFamily="18" charset="0"/>
                <a:cs typeface="Times New Roman" panose="02020603050405020304" pitchFamily="18" charset="0"/>
              </a:rPr>
              <a:t> Secure and easy verification </a:t>
            </a:r>
          </a:p>
          <a:p>
            <a:r>
              <a:rPr lang="en-US" sz="2800" b="1" dirty="0">
                <a:latin typeface="Times New Roman" panose="02020603050405020304" pitchFamily="18" charset="0"/>
                <a:cs typeface="Times New Roman" panose="02020603050405020304" pitchFamily="18" charset="0"/>
              </a:rPr>
              <a:t>Lightweight System:</a:t>
            </a:r>
            <a:r>
              <a:rPr lang="en-US" sz="2800" dirty="0">
                <a:latin typeface="Times New Roman" panose="02020603050405020304" pitchFamily="18" charset="0"/>
                <a:cs typeface="Times New Roman" panose="02020603050405020304" pitchFamily="18" charset="0"/>
              </a:rPr>
              <a:t> Runs directly in browser (no installation) </a:t>
            </a:r>
          </a:p>
          <a:p>
            <a:r>
              <a:rPr lang="en-US" sz="2800" b="1" dirty="0">
                <a:latin typeface="Times New Roman" panose="02020603050405020304" pitchFamily="18" charset="0"/>
                <a:cs typeface="Times New Roman" panose="02020603050405020304" pitchFamily="18" charset="0"/>
              </a:rPr>
              <a:t>Instant Feedback:</a:t>
            </a:r>
            <a:r>
              <a:rPr lang="en-US" sz="2800" dirty="0">
                <a:latin typeface="Times New Roman" panose="02020603050405020304" pitchFamily="18" charset="0"/>
                <a:cs typeface="Times New Roman" panose="02020603050405020304" pitchFamily="18" charset="0"/>
              </a:rPr>
              <a:t> Shows confirmation and booking history immediately </a:t>
            </a:r>
          </a:p>
          <a:p>
            <a:r>
              <a:rPr lang="en-US" sz="2800" b="1" dirty="0">
                <a:latin typeface="Times New Roman" panose="02020603050405020304" pitchFamily="18" charset="0"/>
                <a:cs typeface="Times New Roman" panose="02020603050405020304" pitchFamily="18" charset="0"/>
              </a:rPr>
              <a:t>Low Setup Cost:</a:t>
            </a:r>
            <a:r>
              <a:rPr lang="en-US" sz="2800" dirty="0">
                <a:latin typeface="Times New Roman" panose="02020603050405020304" pitchFamily="18" charset="0"/>
                <a:cs typeface="Times New Roman" panose="02020603050405020304" pitchFamily="18" charset="0"/>
              </a:rPr>
              <a:t> No server/database required (uses </a:t>
            </a:r>
            <a:r>
              <a:rPr lang="en-US" sz="2800" dirty="0" err="1">
                <a:latin typeface="Times New Roman" panose="02020603050405020304" pitchFamily="18" charset="0"/>
                <a:cs typeface="Times New Roman" panose="02020603050405020304" pitchFamily="18" charset="0"/>
              </a:rPr>
              <a:t>localStorage</a:t>
            </a:r>
            <a:r>
              <a:rPr lang="en-US" sz="2800" dirty="0">
                <a:latin typeface="Times New Roman" panose="02020603050405020304" pitchFamily="18" charset="0"/>
                <a:cs typeface="Times New Roman" panose="02020603050405020304" pitchFamily="18" charset="0"/>
              </a:rPr>
              <a:t>) </a:t>
            </a:r>
          </a:p>
          <a:p>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2. Limitations :</a:t>
            </a:r>
          </a:p>
          <a:p>
            <a:r>
              <a:rPr lang="en-US" sz="2800" b="1" dirty="0">
                <a:latin typeface="Times New Roman" panose="02020603050405020304" pitchFamily="18" charset="0"/>
                <a:cs typeface="Times New Roman" panose="02020603050405020304" pitchFamily="18" charset="0"/>
              </a:rPr>
              <a:t>No Backend Integration:</a:t>
            </a:r>
            <a:r>
              <a:rPr lang="en-US" sz="2800" dirty="0">
                <a:latin typeface="Times New Roman" panose="02020603050405020304" pitchFamily="18" charset="0"/>
                <a:cs typeface="Times New Roman" panose="02020603050405020304" pitchFamily="18" charset="0"/>
              </a:rPr>
              <a:t> Data stored only in browser (not shared across devices) </a:t>
            </a:r>
          </a:p>
          <a:p>
            <a:r>
              <a:rPr lang="en-US" sz="2800" b="1" dirty="0">
                <a:latin typeface="Times New Roman" panose="02020603050405020304" pitchFamily="18" charset="0"/>
                <a:cs typeface="Times New Roman" panose="02020603050405020304" pitchFamily="18" charset="0"/>
              </a:rPr>
              <a:t>Limited Scalability:</a:t>
            </a:r>
            <a:r>
              <a:rPr lang="en-US" sz="2800" dirty="0">
                <a:latin typeface="Times New Roman" panose="02020603050405020304" pitchFamily="18" charset="0"/>
                <a:cs typeface="Times New Roman" panose="02020603050405020304" pitchFamily="18" charset="0"/>
              </a:rPr>
              <a:t> Not suitable for large-scale or multi-user systems </a:t>
            </a:r>
          </a:p>
          <a:p>
            <a:r>
              <a:rPr lang="en-US" sz="2800" b="1" dirty="0">
                <a:latin typeface="Times New Roman" panose="02020603050405020304" pitchFamily="18" charset="0"/>
                <a:cs typeface="Times New Roman" panose="02020603050405020304" pitchFamily="18" charset="0"/>
              </a:rPr>
              <a:t>Basic Security:</a:t>
            </a:r>
            <a:r>
              <a:rPr lang="en-US" sz="2800" dirty="0">
                <a:latin typeface="Times New Roman" panose="02020603050405020304" pitchFamily="18" charset="0"/>
                <a:cs typeface="Times New Roman" panose="02020603050405020304" pitchFamily="18" charset="0"/>
              </a:rPr>
              <a:t> No authentication or advanced protection </a:t>
            </a:r>
          </a:p>
          <a:p>
            <a:r>
              <a:rPr lang="en-US" sz="2800" b="1" dirty="0">
                <a:latin typeface="Times New Roman" panose="02020603050405020304" pitchFamily="18" charset="0"/>
                <a:cs typeface="Times New Roman" panose="02020603050405020304" pitchFamily="18" charset="0"/>
              </a:rPr>
              <a:t>No Real-Time Sync:</a:t>
            </a:r>
            <a:r>
              <a:rPr lang="en-US" sz="2800" dirty="0">
                <a:latin typeface="Times New Roman" panose="02020603050405020304" pitchFamily="18" charset="0"/>
                <a:cs typeface="Times New Roman" panose="02020603050405020304" pitchFamily="18" charset="0"/>
              </a:rPr>
              <a:t> Multiple users cannot book simultaneously </a:t>
            </a:r>
          </a:p>
          <a:p>
            <a:r>
              <a:rPr lang="en-US" sz="2800" b="1" dirty="0">
                <a:latin typeface="Times New Roman" panose="02020603050405020304" pitchFamily="18" charset="0"/>
                <a:cs typeface="Times New Roman" panose="02020603050405020304" pitchFamily="18" charset="0"/>
              </a:rPr>
              <a:t>Data Loss Risk:</a:t>
            </a:r>
            <a:r>
              <a:rPr lang="en-US" sz="2800" dirty="0">
                <a:latin typeface="Times New Roman" panose="02020603050405020304" pitchFamily="18" charset="0"/>
                <a:cs typeface="Times New Roman" panose="02020603050405020304" pitchFamily="18" charset="0"/>
              </a:rPr>
              <a:t> Clearing browser storage removes all bookings </a:t>
            </a:r>
          </a:p>
          <a:p>
            <a:r>
              <a:rPr lang="en-US" sz="2800" b="1" dirty="0">
                <a:latin typeface="Times New Roman" panose="02020603050405020304" pitchFamily="18" charset="0"/>
                <a:cs typeface="Times New Roman" panose="02020603050405020304" pitchFamily="18" charset="0"/>
              </a:rPr>
              <a:t>UI Enhancements Needed:</a:t>
            </a:r>
            <a:r>
              <a:rPr lang="en-US" sz="2800" dirty="0">
                <a:latin typeface="Times New Roman" panose="02020603050405020304" pitchFamily="18" charset="0"/>
                <a:cs typeface="Times New Roman" panose="02020603050405020304" pitchFamily="18" charset="0"/>
              </a:rPr>
              <a:t> Can be improved for better design and responsiveness </a:t>
            </a:r>
          </a:p>
        </p:txBody>
      </p:sp>
    </p:spTree>
    <p:extLst>
      <p:ext uri="{BB962C8B-B14F-4D97-AF65-F5344CB8AC3E}">
        <p14:creationId xmlns:p14="http://schemas.microsoft.com/office/powerpoint/2010/main" val="18389767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752</TotalTime>
  <Words>1421</Words>
  <Application>Microsoft Office PowerPoint</Application>
  <PresentationFormat>Custom</PresentationFormat>
  <Paragraphs>240</Paragraphs>
  <Slides>14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Times New Roman</vt:lpstr>
      <vt:lpstr>Gotham</vt:lpstr>
      <vt:lpstr>Bookman Old Style</vt:lpstr>
      <vt:lpstr>Calibri</vt:lpstr>
      <vt:lpstr>Gotham Bold Italics</vt:lpstr>
      <vt:lpstr>Cambria</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faizan shaik</dc:creator>
  <cp:lastModifiedBy>Nerella Kathyayini</cp:lastModifiedBy>
  <cp:revision>26</cp:revision>
  <dcterms:created xsi:type="dcterms:W3CDTF">2006-08-16T00:00:00Z</dcterms:created>
  <dcterms:modified xsi:type="dcterms:W3CDTF">2026-04-20T04:03:25Z</dcterms:modified>
  <dc:identifier>DAHCaYqJ9OU</dc:identifier>
</cp:coreProperties>
</file>